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63" r:id="rId4"/>
    <p:sldId id="264" r:id="rId5"/>
    <p:sldId id="257" r:id="rId6"/>
    <p:sldId id="258" r:id="rId7"/>
    <p:sldId id="259" r:id="rId8"/>
    <p:sldId id="260" r:id="rId9"/>
    <p:sldId id="261" r:id="rId10"/>
    <p:sldId id="262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9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5"/>
        <p:guide pos="39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rxiv.org/pdf/2501.05899v1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D0D0D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Closed-Loop CO₂-Aware</a:t>
            </a:r>
            <a:br>
              <a:rPr lang="en-US" dirty="0"/>
            </a:br>
            <a:r>
              <a:rPr lang="en-US" b="1" dirty="0">
                <a:solidFill>
                  <a:srgbClr val="0D0D0D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Prompt Optimization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5555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for Large Language Model Inference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COVER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Closed-loop system that predicts CO₂ of an LLM prompt before inference runs</a:t>
            </a:r>
            <a:endParaRPr lang="en-US" altLang="en-US"/>
          </a:p>
          <a:p>
            <a:r>
              <a:rPr lang="en-US" altLang="en-US"/>
              <a:t>Iteratively rewrites the prompt to minimise carbon emissions</a:t>
            </a:r>
            <a:endParaRPr lang="en-US" altLang="en-US"/>
          </a:p>
          <a:p>
            <a:r>
              <a:rPr lang="en-US" altLang="en-US"/>
              <a:t>Reports exact CO₂ saved versus the original unoptimised prompt</a:t>
            </a:r>
            <a:endParaRPr lang="en-US" altLang="en-US"/>
          </a:p>
          <a:p>
            <a:r>
              <a:rPr lang="en-US" altLang="en-US"/>
              <a:t>Grounded in Rubei et al. (2025) — empirically validated on Llama 3.</a:t>
            </a:r>
            <a:endParaRPr lang="en-US" altLang="en-US"/>
          </a:p>
          <a:p>
            <a:r>
              <a:rPr lang="en-US" altLang="en-US">
                <a:hlinkClick r:id="rId1" tooltip="" action="ppaction://hlinkfile"/>
              </a:rPr>
              <a:t>https://arxiv.org/pdf/2501.05899v1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RESEARCH FOUNDATION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Rubei et al. (2025), University of L'Aquila — tested Llama 3 on 1,000 Java tasks</a:t>
            </a:r>
            <a:endParaRPr lang="en-US" altLang="en-US"/>
          </a:p>
          <a:p>
            <a:r>
              <a:rPr lang="en-US" altLang="en-US"/>
              <a:t>Measured GPU energy via CodeCarbon across 5 prompt configurations</a:t>
            </a:r>
            <a:endParaRPr lang="en-US" altLang="en-US"/>
          </a:p>
          <a:p>
            <a:r>
              <a:rPr lang="en-US" altLang="en-US"/>
              <a:t>Key finding: prompt structure alone caused up to 12× variation in inference energy</a:t>
            </a:r>
            <a:endParaRPr lang="en-US" altLang="en-US"/>
          </a:p>
          <a:p>
            <a:r>
              <a:rPr lang="en-US" altLang="en-US"/>
              <a:t>Best config (C2: structured tags + explanation) cut one-shot energy by 99%, few-shot by 83%</a:t>
            </a:r>
            <a:endParaRPr lang="en-US" altLang="en-US"/>
          </a:p>
          <a:p>
            <a:r>
              <a:rPr lang="en-US" altLang="en-US"/>
              <a:t>Accuracy improved by 23% with no additional compute cost</a:t>
            </a:r>
            <a:endParaRPr lang="en-US" altLang="en-US"/>
          </a:p>
          <a:p>
            <a:r>
              <a:rPr lang="en-US" altLang="en-US"/>
              <a:t>Proves CO₂ is predictable from prompt features — before inference runs</a:t>
            </a:r>
            <a:endParaRPr lang="en-US" altLang="en-US"/>
          </a:p>
          <a:p>
            <a:r>
              <a:rPr lang="en-US" altLang="en-US"/>
              <a:t>Our invention automates what they proved manually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kern="0" spc="300" dirty="0">
                <a:solidFill>
                  <a:schemeClr val="tx1"/>
                </a:solidFill>
                <a:sym typeface="+mn-ea"/>
              </a:rPr>
              <a:t>THE PROBLEM</a:t>
            </a:r>
            <a:endParaRPr lang="en-US" b="1" kern="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600"/>
            <a:ext cx="10515600" cy="4833620"/>
          </a:xfrm>
        </p:spPr>
        <p:txBody>
          <a:bodyPr>
            <a:normAutofit lnSpcReduction="20000"/>
          </a:bodyPr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Prompt Structure Drives CO₂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Prompt configuration alone causes up to 12× variation in GPU energy. Yet operators cannot see this cost until after inference runs.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No Pre-Execution CO₂ Estimate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No system today estimates the CO₂ footprint of a prompt before running inference. The CodeCarbon tool only measures after execution — not before.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Savings Left on the Table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sym typeface="+mn-ea"/>
              </a:rPr>
              <a:t>Best prompt config (C2) reduces energy by 83–99% vs baseline. This saving is lost when operators submit unoptimised prompts with no pre-execution guidance.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kern="0" spc="300" dirty="0">
                <a:solidFill>
                  <a:schemeClr val="tx1"/>
                </a:solidFill>
                <a:sym typeface="+mn-ea"/>
              </a:rPr>
              <a:t>THE SOLUTION</a:t>
            </a:r>
            <a:endParaRPr lang="en-US" b="1" kern="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8200" y="1825625"/>
            <a:ext cx="1051496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A closed-loop system that estimates CO₂ before inference,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iteratively rewrites the prompt to minimise it, and reports exact savings.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Shape 4"/>
          <p:cNvSpPr/>
          <p:nvPr>
            <p:custDataLst>
              <p:tags r:id="rId1"/>
            </p:custDataLst>
          </p:nvPr>
        </p:nvSpPr>
        <p:spPr>
          <a:xfrm>
            <a:off x="1728470" y="3108960"/>
            <a:ext cx="2778760" cy="530225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1" name="Text 5"/>
          <p:cNvSpPr/>
          <p:nvPr>
            <p:custDataLst>
              <p:tags r:id="rId2"/>
            </p:custDataLst>
          </p:nvPr>
        </p:nvSpPr>
        <p:spPr>
          <a:xfrm>
            <a:off x="1728470" y="3108960"/>
            <a:ext cx="277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ESTIMATE</a:t>
            </a:r>
            <a:endParaRPr lang="en-US" sz="1300" dirty="0"/>
          </a:p>
        </p:txBody>
      </p:sp>
      <p:sp>
        <p:nvSpPr>
          <p:cNvPr id="15" name="Text 6"/>
          <p:cNvSpPr/>
          <p:nvPr>
            <p:custDataLst>
              <p:tags r:id="rId3"/>
            </p:custDataLst>
          </p:nvPr>
        </p:nvSpPr>
        <p:spPr>
          <a:xfrm>
            <a:off x="1728470" y="3429000"/>
            <a:ext cx="277876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</a:rPr>
              <a:t>Pre-execution CO₂</a:t>
            </a:r>
            <a:endParaRPr lang="en-US" sz="1000" dirty="0"/>
          </a:p>
        </p:txBody>
      </p:sp>
      <p:sp>
        <p:nvSpPr>
          <p:cNvPr id="17" name="Text 7"/>
          <p:cNvSpPr/>
          <p:nvPr>
            <p:custDataLst>
              <p:tags r:id="rId4"/>
            </p:custDataLst>
          </p:nvPr>
        </p:nvSpPr>
        <p:spPr>
          <a:xfrm>
            <a:off x="1875155" y="3749040"/>
            <a:ext cx="24866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Apply the CodeCarbon-derived formula to the input prompt before any inference runs. CO₂ = gpu_energy × CI_region. gpu_energy estimated from prompt features: token count, type distribution, and GPU power profile.</a:t>
            </a:r>
            <a:endParaRPr lang="en-US" sz="1200" dirty="0"/>
          </a:p>
        </p:txBody>
      </p:sp>
      <p:sp>
        <p:nvSpPr>
          <p:cNvPr id="20" name="Shape 9"/>
          <p:cNvSpPr/>
          <p:nvPr>
            <p:custDataLst>
              <p:tags r:id="rId5"/>
            </p:custDataLst>
          </p:nvPr>
        </p:nvSpPr>
        <p:spPr>
          <a:xfrm>
            <a:off x="4681855" y="3108960"/>
            <a:ext cx="2778760" cy="530225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Text 10"/>
          <p:cNvSpPr/>
          <p:nvPr>
            <p:custDataLst>
              <p:tags r:id="rId6"/>
            </p:custDataLst>
          </p:nvPr>
        </p:nvSpPr>
        <p:spPr>
          <a:xfrm>
            <a:off x="4681855" y="3108960"/>
            <a:ext cx="277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OPTIMISE</a:t>
            </a:r>
            <a:endParaRPr lang="en-US" sz="1300" dirty="0"/>
          </a:p>
        </p:txBody>
      </p:sp>
      <p:sp>
        <p:nvSpPr>
          <p:cNvPr id="22" name="Text 11"/>
          <p:cNvSpPr/>
          <p:nvPr>
            <p:custDataLst>
              <p:tags r:id="rId7"/>
            </p:custDataLst>
          </p:nvPr>
        </p:nvSpPr>
        <p:spPr>
          <a:xfrm>
            <a:off x="4681855" y="3429000"/>
            <a:ext cx="277876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</a:rPr>
              <a:t>Closed-loop rewriting</a:t>
            </a:r>
            <a:endParaRPr lang="en-US" sz="1000" dirty="0"/>
          </a:p>
        </p:txBody>
      </p:sp>
      <p:sp>
        <p:nvSpPr>
          <p:cNvPr id="23" name="Text 12"/>
          <p:cNvSpPr/>
          <p:nvPr>
            <p:custDataLst>
              <p:tags r:id="rId8"/>
            </p:custDataLst>
          </p:nvPr>
        </p:nvSpPr>
        <p:spPr>
          <a:xfrm>
            <a:off x="4828540" y="3749040"/>
            <a:ext cx="24866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Apply Rubei et al.'s proven C2 strategy (structured tags + explanation) and other rewriting techniques iteratively. Re-estimate CO₂ for each variant. Stop when savings become marginal — via a multi-criteria convergence engine.</a:t>
            </a:r>
            <a:endParaRPr lang="en-US" sz="1200" dirty="0"/>
          </a:p>
        </p:txBody>
      </p:sp>
      <p:sp>
        <p:nvSpPr>
          <p:cNvPr id="24" name="Shape 14"/>
          <p:cNvSpPr/>
          <p:nvPr>
            <p:custDataLst>
              <p:tags r:id="rId9"/>
            </p:custDataLst>
          </p:nvPr>
        </p:nvSpPr>
        <p:spPr>
          <a:xfrm>
            <a:off x="7635875" y="3108960"/>
            <a:ext cx="2778760" cy="530225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5" name="Text 16"/>
          <p:cNvSpPr/>
          <p:nvPr>
            <p:custDataLst>
              <p:tags r:id="rId10"/>
            </p:custDataLst>
          </p:nvPr>
        </p:nvSpPr>
        <p:spPr>
          <a:xfrm>
            <a:off x="7635875" y="3429000"/>
            <a:ext cx="277876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</a:rPr>
              <a:t>CO₂ savings on execution</a:t>
            </a:r>
            <a:endParaRPr lang="en-US" sz="1000" dirty="0"/>
          </a:p>
        </p:txBody>
      </p:sp>
      <p:sp>
        <p:nvSpPr>
          <p:cNvPr id="26" name="Text 17"/>
          <p:cNvSpPr/>
          <p:nvPr>
            <p:custDataLst>
              <p:tags r:id="rId11"/>
            </p:custDataLst>
          </p:nvPr>
        </p:nvSpPr>
        <p:spPr>
          <a:xfrm>
            <a:off x="7781925" y="3749040"/>
            <a:ext cx="24866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Dispatch the lowest-CO₂ variant. After inference, compute and surface the exact CO₂ saved versus the original unoptimised prompt — in grams, with percentage reduction.</a:t>
            </a:r>
            <a:endParaRPr lang="en-US" sz="1200" dirty="0"/>
          </a:p>
        </p:txBody>
      </p:sp>
      <p:sp>
        <p:nvSpPr>
          <p:cNvPr id="27" name="Text 15"/>
          <p:cNvSpPr/>
          <p:nvPr>
            <p:custDataLst>
              <p:tags r:id="rId12"/>
            </p:custDataLst>
          </p:nvPr>
        </p:nvSpPr>
        <p:spPr>
          <a:xfrm>
            <a:off x="7634986" y="310896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REPORT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kern="0" spc="100" dirty="0">
                <a:solidFill>
                  <a:schemeClr val="tx1"/>
                </a:solidFill>
                <a:sym typeface="+mn-ea"/>
              </a:rPr>
              <a:t>HOW CO₂ IS CALCULATED  (CodeCarbon-grounded)</a:t>
            </a:r>
            <a:endParaRPr lang="en-US" b="1" kern="0" spc="1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1710"/>
            <a:ext cx="10515600" cy="3212465"/>
          </a:xfrm>
        </p:spPr>
        <p:txBody>
          <a:bodyPr>
            <a:normAutofit fontScale="90000"/>
          </a:bodyPr>
          <a:p>
            <a:pPr algn="just"/>
            <a:r>
              <a:rPr lang="en-US" b="1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N</a:t>
            </a:r>
            <a:r>
              <a:rPr lang="en-US">
                <a:solidFill>
                  <a:schemeClr val="tx1"/>
                </a:solidFill>
              </a:rPr>
              <a:t>(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Token Count) : </a:t>
            </a:r>
            <a:r>
              <a:rPr lang="en-US" dirty="0">
                <a:solidFill>
                  <a:schemeClr val="tx1"/>
                </a:solidFill>
                <a:sym typeface="+mn-ea"/>
              </a:rPr>
              <a:t>Total tokens after BPE/SentencePiece tokenization. Primary compute driver — directly proportional to inference FLOPs.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W_type(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Token-Type Weight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) : </a:t>
            </a:r>
            <a:r>
              <a:rPr lang="en-US" dirty="0">
                <a:solidFill>
                  <a:schemeClr val="tx1"/>
                </a:solidFill>
                <a:sym typeface="+mn-ea"/>
              </a:rPr>
              <a:t>Complexity multiplier from token-type distribution D (NATURAL · CODE · JSON · TABLE). CODE and JSON tokens carry higher GPU load — proven </a:t>
            </a:r>
            <a:endParaRPr lang="en-US" dirty="0">
              <a:solidFill>
                <a:schemeClr val="tx1"/>
              </a:solidFill>
              <a:sym typeface="+mn-ea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P_gpu(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GPU Power Draw</a:t>
            </a:r>
            <a:r>
              <a:rPr lang="en-US" dirty="0">
                <a:solidFill>
                  <a:schemeClr val="tx1"/>
                </a:solidFill>
              </a:rPr>
              <a:t>) : </a:t>
            </a:r>
            <a:r>
              <a:rPr lang="en-US" dirty="0">
                <a:solidFill>
                  <a:schemeClr val="tx1"/>
                </a:solidFill>
                <a:sym typeface="+mn-ea"/>
              </a:rPr>
              <a:t>Wattage of inference GPU. Rubei et al. used Nvidia RTX 4060 Ti. For cloud inference, sourced from hardware spec or telemetry profile.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524762" y="1893062"/>
            <a:ext cx="4160520" cy="12984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6202" y="1929638"/>
            <a:ext cx="397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CCCC"/>
                </a:solidFill>
              </a:rPr>
              <a:t>STAGE 1  —  GPU Energy Estimate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16202" y="2231390"/>
            <a:ext cx="3977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E_gpu  =  N × W_type × P_gpu × T_est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33338" y="1893062"/>
            <a:ext cx="4023360" cy="12984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24778" y="192963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CCCC"/>
                </a:solidFill>
              </a:rPr>
              <a:t>STAGE 2  —  CO₂ Conversion (CodeCarbon)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24778" y="223139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CO₂  =  E_gpu  ×  CI_region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kern="0" spc="100" dirty="0">
                <a:solidFill>
                  <a:schemeClr val="tx1"/>
                </a:solidFill>
                <a:sym typeface="+mn-ea"/>
              </a:rPr>
              <a:t>HOW CO₂ IS CALCULATED  (CodeCarbon-grounded)</a:t>
            </a:r>
            <a:endParaRPr lang="en-US" b="1" kern="0" spc="1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T_est(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Estimated Duration) : </a:t>
            </a:r>
            <a:r>
              <a:rPr lang="en-US" dirty="0">
                <a:solidFill>
                  <a:schemeClr val="tx1"/>
                </a:solidFill>
                <a:sym typeface="+mn-ea"/>
              </a:rPr>
              <a:t>Predicted inference time (seconds), estimated from N and model throughput benchmarks (tokens/sec) — measurable before execution.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CI_region(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Carbon Intensity) : </a:t>
            </a:r>
            <a:r>
              <a:rPr lang="en-US" dirty="0">
                <a:solidFill>
                  <a:schemeClr val="tx1"/>
                </a:solidFill>
                <a:sym typeface="+mn-ea"/>
              </a:rPr>
              <a:t>Grid carbon intensity (gCO₂/kWh) of the data centre region. Sourced from live carbon APIs (e.g., Electricity Maps). Varies 10× across regions per Rubei et al. Fig.1.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kern="0" spc="300" dirty="0">
                <a:solidFill>
                  <a:schemeClr val="tx1"/>
                </a:solidFill>
                <a:sym typeface="+mn-ea"/>
              </a:rPr>
              <a:t>LAYERS</a:t>
            </a:r>
            <a:endParaRPr lang="en-US" b="1" kern="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775587" y="1683893"/>
            <a:ext cx="86410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1775587" y="1683893"/>
            <a:ext cx="50292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1775587" y="1683893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L1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2433955" y="1720469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Input Prompt Acquisition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2433955" y="1994789"/>
            <a:ext cx="5943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Tokenize · Classify types (NATURAL/CODE/JSON/TABLE) · Build PFO  {T, N, L, D}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1775587" y="2232533"/>
            <a:ext cx="5029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↓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1775587" y="2342261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1775587" y="2342261"/>
            <a:ext cx="50292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775587" y="2342261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433955" y="2378837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CO₂ Prediction Engine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2433955" y="2653157"/>
            <a:ext cx="5943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E_gpu = N × W_type × P_gpu × T_est  →  CO₂ = E_gpu × CI_region  (CodeCarbon method)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9227947" y="2479421"/>
            <a:ext cx="1188720" cy="237744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227947" y="2479421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</a:rPr>
              <a:t>CORE NOVELTY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1775587" y="2890901"/>
            <a:ext cx="5029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↓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1775587" y="3000629"/>
            <a:ext cx="86410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775587" y="3000629"/>
            <a:ext cx="50292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775587" y="3000629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L3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433955" y="3037205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Prompt Rewriting Engine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433955" y="3311525"/>
            <a:ext cx="5943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Structured-tag injection · Token compression · Instruction consolidation · Semantic gate θ ≥ 0.92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775587" y="3549269"/>
            <a:ext cx="5029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↓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775587" y="3658997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775587" y="3658997"/>
            <a:ext cx="50292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775587" y="3658997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2433955" y="3695573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Re-Prediction Loop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2433955" y="3969893"/>
            <a:ext cx="5943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Re-score variants · Update Variant CO₂ Register · Track best V* across iterations k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775587" y="4207637"/>
            <a:ext cx="5029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↓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1775587" y="4317365"/>
            <a:ext cx="86410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775587" y="4317365"/>
            <a:ext cx="50292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775587" y="4317365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L5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2433955" y="4353941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Convergence Engine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2433955" y="4628261"/>
            <a:ext cx="5943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C1–C5 multi-criteria stopping function → HALT or CONTINUE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9410827" y="4454525"/>
            <a:ext cx="1005840" cy="237744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410827" y="4454525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</a:rPr>
              <a:t>PATENTABLE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1775587" y="4866005"/>
            <a:ext cx="5029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↓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1775587" y="4975733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1775587" y="4975733"/>
            <a:ext cx="50292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775587" y="4975733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L6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2433955" y="5012309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</a:rPr>
              <a:t>Lowest-CO₂ Selector + Report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2433955" y="5286629"/>
            <a:ext cx="5943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</a:rPr>
              <a:t>Global scan across all k · Select P* · Report CO₂ saved (Ĉ₀ − Ĉ*) in grams and %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9410827" y="5112893"/>
            <a:ext cx="1005840" cy="237744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410827" y="5112893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</a:rPr>
              <a:t>CORE CLAIM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kern="0" spc="100" dirty="0">
                <a:solidFill>
                  <a:schemeClr val="tx1"/>
                </a:solidFill>
                <a:sym typeface="+mn-ea"/>
              </a:rPr>
              <a:t>L1 : INPUT PROMPT ACQUISITION LAYER</a:t>
            </a:r>
            <a:endParaRPr lang="en-US" b="1" kern="0" spc="1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Receives raw prompt and tokenizes it using respctive tokenizer</a:t>
            </a:r>
            <a:endParaRPr lang="en-US" altLang="en-US"/>
          </a:p>
          <a:p>
            <a:r>
              <a:rPr lang="en-US" altLang="en-US"/>
              <a:t>Records token count N and sequence length L — primary CO₂ drivers</a:t>
            </a:r>
            <a:endParaRPr lang="en-US" altLang="en-US"/>
          </a:p>
          <a:p>
            <a:r>
              <a:rPr lang="en-US" altLang="en-US"/>
              <a:t>Classifies every token: NATURAL · CODE · JSON · TABLE · NUMERIC</a:t>
            </a:r>
            <a:endParaRPr lang="en-US" altLang="en-US"/>
          </a:p>
          <a:p>
            <a:r>
              <a:rPr lang="en-US" altLang="en-US"/>
              <a:t>Builds type distribution vector D — key input to W_type in the CO₂ formula</a:t>
            </a:r>
            <a:endParaRPr lang="en-US" altLang="en-US"/>
          </a:p>
          <a:p>
            <a:r>
              <a:rPr lang="en-US" altLang="en-US"/>
              <a:t>Rubei et al. showed type distribution is the single biggest determinant of inference energy</a:t>
            </a:r>
            <a:endParaRPr lang="en-US" altLang="en-US"/>
          </a:p>
          <a:p>
            <a:r>
              <a:rPr lang="en-US" altLang="en-US"/>
              <a:t>Packages all outputs into a Prompt Feature Object (PFO) forwarded to L2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L2 : CO₂ PREDICTION ENGINE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Takes the PFO from L1 and runs the two-stage CO₂ formula</a:t>
            </a:r>
            <a:endParaRPr lang="en-US" altLang="en-US"/>
          </a:p>
          <a:p>
            <a:r>
              <a:rPr lang="en-US" altLang="en-US"/>
              <a:t>Stage 1: estimates GPU energy using token count, type weight, power draw and duration</a:t>
            </a:r>
            <a:endParaRPr lang="en-US" altLang="en-US"/>
          </a:p>
          <a:p>
            <a:r>
              <a:rPr lang="en-US" altLang="en-US"/>
              <a:t>Stage 2: converts energy to grams using regional carbon intensity (CodeCarbon method)</a:t>
            </a:r>
            <a:endParaRPr lang="en-US" altLang="en-US"/>
          </a:p>
          <a:p>
            <a:r>
              <a:rPr lang="en-US" altLang="en-US"/>
              <a:t>Outputs </a:t>
            </a:r>
            <a:r>
              <a:rPr lang="" altLang="en-US"/>
              <a:t>Ĉ</a:t>
            </a:r>
            <a:r>
              <a:rPr lang="en-US" altLang="en-US"/>
              <a:t>₀ — the pre-execution CO₂ baseline in grams</a:t>
            </a:r>
            <a:endParaRPr lang="en-US" altLang="en-US"/>
          </a:p>
          <a:p>
            <a:r>
              <a:rPr lang="en-US" altLang="en-US"/>
              <a:t>All subsequent variant scores are compared as a delta against </a:t>
            </a:r>
            <a:r>
              <a:rPr lang="" altLang="en-US"/>
              <a:t>Ĉ</a:t>
            </a:r>
            <a:r>
              <a:rPr lang="en-US" altLang="en-US"/>
              <a:t>₀</a:t>
            </a:r>
            <a:endParaRPr lang="en-US" altLang="en-US"/>
          </a:p>
          <a:p>
            <a:r>
              <a:rPr lang="en-US" altLang="en-US"/>
              <a:t>No inference needed — </a:t>
            </a:r>
            <a:r>
              <a:rPr lang="" altLang="en-US"/>
              <a:t>Ĉ</a:t>
            </a:r>
            <a:r>
              <a:rPr lang="en-US" altLang="en-US"/>
              <a:t>₀ is computed entirely from prompt features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L3 : PROMPT REWRITING ENGINE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Generates semantically equivalent variants targeting lower CO₂</a:t>
            </a:r>
            <a:endParaRPr lang="en-US" altLang="en-US"/>
          </a:p>
          <a:p>
            <a:r>
              <a:rPr lang="en-US" altLang="en-US"/>
              <a:t>Strategy 1: Structured-tag injection — proven -99% one-shot energy reduction</a:t>
            </a:r>
            <a:endParaRPr lang="en-US" altLang="en-US"/>
          </a:p>
          <a:p>
            <a:r>
              <a:rPr lang="en-US" altLang="en-US"/>
              <a:t>Strategy 2: System-role strengthening— +44% accuracy, lower compute</a:t>
            </a:r>
            <a:endParaRPr lang="en-US" altLang="en-US"/>
          </a:p>
          <a:p>
            <a:r>
              <a:rPr lang="en-US" altLang="en-US"/>
              <a:t>Strategy 3: Token compression — directly reduces N, the primary CO₂ driver</a:t>
            </a:r>
            <a:endParaRPr lang="en-US" altLang="en-US"/>
          </a:p>
          <a:p>
            <a:r>
              <a:rPr lang="en-US" altLang="en-US"/>
              <a:t>Strategy 4: Structure simplification — converts CODE/JSON to natural language, lowers W_type</a:t>
            </a:r>
            <a:endParaRPr lang="en-US" altLang="en-US"/>
          </a:p>
          <a:p>
            <a:r>
              <a:rPr lang="en-US" altLang="en-US"/>
              <a:t>Semantic gate: variants below similarity 0.92 vs original are discarded before re-scoring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L4 : RE-PREDICTION LOOP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Re-tokenizes and re-classifies each approved variant from L3</a:t>
            </a:r>
            <a:endParaRPr lang="en-US" altLang="en-US"/>
          </a:p>
          <a:p>
            <a:r>
              <a:rPr lang="en-US" altLang="en-US"/>
              <a:t>Applies the full CO₂ formula to produce </a:t>
            </a:r>
            <a:r>
              <a:rPr lang="" altLang="en-US"/>
              <a:t>Ĉᵢ</a:t>
            </a:r>
            <a:r>
              <a:rPr lang="en-US" altLang="en-US"/>
              <a:t> for each variant</a:t>
            </a:r>
            <a:endParaRPr lang="en-US" altLang="en-US"/>
          </a:p>
          <a:p>
            <a:r>
              <a:rPr lang="en-US" altLang="en-US"/>
              <a:t>Stores results in Variant CO₂ Register: {(V₁, </a:t>
            </a:r>
            <a:r>
              <a:rPr lang="" altLang="en-US"/>
              <a:t>Ĉ</a:t>
            </a:r>
            <a:r>
              <a:rPr lang="en-US" altLang="en-US"/>
              <a:t>₁), (V₂, </a:t>
            </a:r>
            <a:r>
              <a:rPr lang="" altLang="en-US"/>
              <a:t>Ĉ</a:t>
            </a:r>
            <a:r>
              <a:rPr lang="en-US" altLang="en-US"/>
              <a:t>₂), ...}</a:t>
            </a:r>
            <a:endParaRPr lang="en-US" altLang="en-US"/>
          </a:p>
          <a:p>
            <a:r>
              <a:rPr lang="en-US" altLang="en-US"/>
              <a:t>Tracks current best V* — lowest CO₂ that passes the semantic gate</a:t>
            </a:r>
            <a:endParaRPr lang="en-US" altLang="en-US"/>
          </a:p>
          <a:p>
            <a:r>
              <a:rPr lang="en-US" altLang="en-US"/>
              <a:t>Best variant from iteration k becomes the starting point for k+1</a:t>
            </a:r>
            <a:endParaRPr lang="en-US" altLang="en-US"/>
          </a:p>
          <a:p>
            <a:r>
              <a:rPr lang="en-US" altLang="en-US"/>
              <a:t>Queries L5 Convergence Engine with </a:t>
            </a:r>
            <a:r>
              <a:rPr lang="" altLang="en-US"/>
              <a:t>Ĉ</a:t>
            </a:r>
            <a:r>
              <a:rPr lang="en-US" altLang="en-US"/>
              <a:t>* and iteration counter k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L5 : CONVERGENCE ENGINE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Answers one question each iteration: keep rewriting, or stop?</a:t>
            </a:r>
            <a:endParaRPr lang="en-US" altLang="en-US"/>
          </a:p>
          <a:p>
            <a:r>
              <a:rPr lang="en-US" altLang="en-US"/>
              <a:t>C1: CO₂ saving dropped below 2% — diminishing returns, stop</a:t>
            </a:r>
            <a:endParaRPr lang="en-US" altLang="en-US"/>
          </a:p>
          <a:p>
            <a:r>
              <a:rPr lang="en-US" altLang="en-US"/>
              <a:t>C2: CO₂ already below operator-set target — goal met, stop</a:t>
            </a:r>
            <a:endParaRPr lang="en-US" altLang="en-US"/>
          </a:p>
          <a:p>
            <a:r>
              <a:rPr lang="en-US" altLang="en-US"/>
              <a:t>C3: Hit maximum 5 iterations — stop regardless</a:t>
            </a:r>
            <a:endParaRPr lang="en-US" altLang="en-US"/>
          </a:p>
          <a:p>
            <a:r>
              <a:rPr lang="en-US" altLang="en-US"/>
              <a:t>C4: Average variant similarity fell below 0.88 — meaning is drifting, stop</a:t>
            </a:r>
            <a:endParaRPr lang="en-US" altLang="en-US"/>
          </a:p>
          <a:p>
            <a:r>
              <a:rPr lang="en-US" altLang="en-US"/>
              <a:t>C5: Confidence intervals of successive CO₂ estimates overlap — no statistical difference, stop</a:t>
            </a:r>
            <a:endParaRPr lang="en-US" altLang="en-US"/>
          </a:p>
          <a:p>
            <a:r>
              <a:rPr lang="en-US" altLang="en-US"/>
              <a:t>Any one fires → HALT to L6 · None fire → CONTINUE to L3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L6 : SELECTOR + SAVINGS REPORT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Scans the full Variant CO₂ Register across all iterations — not just the last round</a:t>
            </a:r>
            <a:endParaRPr lang="en-US" altLang="en-US"/>
          </a:p>
          <a:p>
            <a:r>
              <a:rPr lang="en-US" altLang="en-US"/>
              <a:t>Selects global lowest-CO₂ variant P* · tie-break: highest semantic similarity wins</a:t>
            </a:r>
            <a:endParaRPr lang="en-US" altLang="en-US"/>
          </a:p>
          <a:p>
            <a:r>
              <a:rPr lang="en-US" altLang="en-US"/>
              <a:t>Dispatches P* to the LLM inference runtime</a:t>
            </a:r>
            <a:endParaRPr lang="en-US" altLang="en-US"/>
          </a:p>
          <a:p>
            <a:r>
              <a:rPr lang="en-US" altLang="en-US"/>
              <a:t>After execution: computes CO₂ saved = </a:t>
            </a:r>
            <a:r>
              <a:rPr lang="" altLang="en-US"/>
              <a:t>Ĉ</a:t>
            </a:r>
            <a:r>
              <a:rPr lang="en-US" altLang="en-US"/>
              <a:t>₀ − </a:t>
            </a:r>
            <a:r>
              <a:rPr lang="" altLang="en-US"/>
              <a:t>Ĉ</a:t>
            </a:r>
            <a:r>
              <a:rPr lang="en-US" altLang="en-US"/>
              <a:t>* in grams and as a % reduction</a:t>
            </a:r>
            <a:endParaRPr lang="en-US" altLang="en-US"/>
          </a:p>
          <a:p>
            <a:r>
              <a:rPr lang="en-US" altLang="en-US"/>
              <a:t>Reports iteration count, strategies applied, and similarity score</a:t>
            </a:r>
            <a:endParaRPr lang="en-US" altLang="en-US"/>
          </a:p>
          <a:p>
            <a:r>
              <a:rPr lang="en-US" altLang="en-US"/>
              <a:t>Expected savings per Rubei et al.: one-shot -99% · few-shot -83% · zero-shot -7%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PATENT CLAIMS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Fully closed-loop CO₂-aware prompt optimisation system</a:t>
            </a:r>
            <a:endParaRPr lang="en-US" altLang="en-US"/>
          </a:p>
          <a:p>
            <a:r>
              <a:rPr lang="en-US" altLang="en-US"/>
              <a:t>Two-stage CO₂ formula: E_gpu → CO₂ via CodeCarbon methodology</a:t>
            </a:r>
            <a:endParaRPr lang="en-US" altLang="en-US"/>
          </a:p>
          <a:p>
            <a:r>
              <a:rPr lang="en-US" altLang="en-US"/>
              <a:t>Token-type weight W_type as a formula input — distinct from raw token count</a:t>
            </a:r>
            <a:endParaRPr lang="en-US" altLang="en-US"/>
          </a:p>
          <a:p>
            <a:r>
              <a:rPr lang="en-US" altLang="en-US"/>
              <a:t>Semantic gate applied before CO₂ re-prediction, not after</a:t>
            </a:r>
            <a:endParaRPr lang="en-US" altLang="en-US"/>
          </a:p>
          <a:p>
            <a:r>
              <a:rPr lang="en-US" altLang="en-US"/>
              <a:t>Multi-criteria convergence engine with 5 stopping conditions (C1–C5)</a:t>
            </a:r>
            <a:endParaRPr lang="en-US" altLang="en-US"/>
          </a:p>
          <a:p>
            <a:r>
              <a:rPr lang="en-US" altLang="en-US"/>
              <a:t>CO₂ savings report surfaced post-execution in grams and percentage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2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3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4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5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6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7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8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9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10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11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ags/tag12.xml><?xml version="1.0" encoding="utf-8"?>
<p:tagLst xmlns:p="http://schemas.openxmlformats.org/presentationml/2006/main">
  <p:tag name="KSO_WM_DIAGRAM_VIRTUALLY_FRAME" val="{&quot;height&quot;:298.8,&quot;left&quot;:20.16,&quot;top&quot;:154.8,&quot;width&quot;:800.61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7039</Words>
  <Application>WPS Presentation</Application>
  <PresentationFormat>Widescreen</PresentationFormat>
  <Paragraphs>196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Calibri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Aizen Sosuke</cp:lastModifiedBy>
  <cp:revision>3</cp:revision>
  <dcterms:created xsi:type="dcterms:W3CDTF">2025-07-23T00:59:00Z</dcterms:created>
  <dcterms:modified xsi:type="dcterms:W3CDTF">2026-03-10T20:24:40Z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EC8AE5CD147D4F3DA5BF6480B579E076_11</vt:lpwstr>
  </property>
  <property fmtid="{D5CDD505-2E9C-101B-9397-08002B2CF9AE}" pid="3" name="KSOProductBuildVer">
    <vt:lpwstr>1033-12.2.0.23196</vt:lpwstr>
  </property>
</Properties>
</file>